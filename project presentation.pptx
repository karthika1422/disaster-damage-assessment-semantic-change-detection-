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62" r:id="rId2"/>
    <p:sldId id="265" r:id="rId3"/>
    <p:sldId id="266" r:id="rId4"/>
    <p:sldId id="273" r:id="rId5"/>
    <p:sldId id="274" r:id="rId6"/>
    <p:sldId id="275" r:id="rId7"/>
    <p:sldId id="277" r:id="rId8"/>
    <p:sldId id="283" r:id="rId9"/>
    <p:sldId id="279" r:id="rId10"/>
    <p:sldId id="284" r:id="rId11"/>
    <p:sldId id="281" r:id="rId12"/>
    <p:sldId id="282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F401375-D35F-E4EA-E598-3B62B6B7F426}" name="vijayamatta85@gmail.com" initials="v" userId="f1e561e849cb7b60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190FE2-F4F7-423E-80FD-19767611826E}" v="27" dt="2025-11-30T17:06:35.2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2707C-6A11-483F-840E-A54A4E6159F1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60E27-B4CF-40CA-8710-56E01E765A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0129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2707C-6A11-483F-840E-A54A4E6159F1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60E27-B4CF-40CA-8710-56E01E765A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966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2707C-6A11-483F-840E-A54A4E6159F1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60E27-B4CF-40CA-8710-56E01E765A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9611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2707C-6A11-483F-840E-A54A4E6159F1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60E27-B4CF-40CA-8710-56E01E765A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3265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2707C-6A11-483F-840E-A54A4E6159F1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60E27-B4CF-40CA-8710-56E01E765AC6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4807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2707C-6A11-483F-840E-A54A4E6159F1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60E27-B4CF-40CA-8710-56E01E765A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6770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2707C-6A11-483F-840E-A54A4E6159F1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60E27-B4CF-40CA-8710-56E01E765A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3435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2707C-6A11-483F-840E-A54A4E6159F1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60E27-B4CF-40CA-8710-56E01E765A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2101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3B42707C-6A11-483F-840E-A54A4E6159F1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60E27-B4CF-40CA-8710-56E01E765A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2321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2707C-6A11-483F-840E-A54A4E6159F1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60E27-B4CF-40CA-8710-56E01E765A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2975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2707C-6A11-483F-840E-A54A4E6159F1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60E27-B4CF-40CA-8710-56E01E765A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6372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3B42707C-6A11-483F-840E-A54A4E6159F1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F4060E27-B4CF-40CA-8710-56E01E765A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547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latinxformblog.commons.gc.cuny.edu/miguels-poems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073DD-6793-B93A-4BE6-2A8ACCB36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EA40C-7CFC-02ED-C8B6-BD48AEA6A1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8260" y="611383"/>
            <a:ext cx="9144000" cy="2387600"/>
          </a:xfrm>
        </p:spPr>
        <p:txBody>
          <a:bodyPr>
            <a:normAutofit/>
          </a:bodyPr>
          <a:lstStyle/>
          <a:p>
            <a:r>
              <a:rPr lang="en-US" sz="2800" dirty="0"/>
              <a:t>Disaster Damage Assessment Using Semantic Change Detection and Deep Learning: An Automated Framework for Damage Classification  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8AE943-2DAF-FE9C-2DA5-AC3C303C87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8334" y="3149320"/>
            <a:ext cx="9144000" cy="1655762"/>
          </a:xfrm>
        </p:spPr>
        <p:txBody>
          <a:bodyPr>
            <a:normAutofit/>
          </a:bodyPr>
          <a:lstStyle/>
          <a:p>
            <a:r>
              <a:rPr lang="en-IN" sz="1800" dirty="0"/>
              <a:t>Author: G. Karthika (23NG1A6118), M. Vijaya (23NG1A6139) </a:t>
            </a:r>
          </a:p>
          <a:p>
            <a:r>
              <a:rPr lang="en-IN" sz="1800" dirty="0"/>
              <a:t>          Y. Ajay(23NG1A6164), V. Praveen (23NG1A6159) </a:t>
            </a:r>
          </a:p>
        </p:txBody>
      </p:sp>
      <p:pic>
        <p:nvPicPr>
          <p:cNvPr id="5" name="Picture 4" descr="A collage of different seasons">
            <a:extLst>
              <a:ext uri="{FF2B5EF4-FFF2-40B4-BE49-F238E27FC236}">
                <a16:creationId xmlns:a16="http://schemas.microsoft.com/office/drawing/2014/main" id="{E182841E-63CF-CB19-DC91-784682C842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562708" y="4228227"/>
            <a:ext cx="8395252" cy="238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730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B6A71-9C90-88EC-1086-B6D4B8A06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BA647-BEDD-7C89-7710-3F16C732B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92201"/>
            <a:ext cx="7729728" cy="1188720"/>
          </a:xfrm>
        </p:spPr>
        <p:txBody>
          <a:bodyPr/>
          <a:lstStyle/>
          <a:p>
            <a:r>
              <a:rPr lang="en-US" dirty="0"/>
              <a:t>Abstract</a:t>
            </a:r>
            <a:endParaRPr lang="en-IN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DDC796F-8C06-63D0-877B-988836DEB98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57710" y="2180112"/>
            <a:ext cx="1333008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Accurate and timely damage assessment is crucial for effective disaster response and resource allocation.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The project introduces an automated framework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Siamese Neural Networks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YOLOv8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instance segmentation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Before-and-after satellite/drone imagery is analyzed for structural changes.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Integrated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change detection + object recognition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enables precise identification of building footprints.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Damage severity is quantified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pixel-level change percentage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The system generates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GIS-compatible damage classification reports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Provides emergency teams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timely, actionable insights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informed decision-making and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response planning.</a:t>
            </a:r>
          </a:p>
        </p:txBody>
      </p:sp>
    </p:spTree>
    <p:extLst>
      <p:ext uri="{BB962C8B-B14F-4D97-AF65-F5344CB8AC3E}">
        <p14:creationId xmlns:p14="http://schemas.microsoft.com/office/powerpoint/2010/main" val="2653597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DD3DD-CC9F-B2F8-34D1-F9E5C71FF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83" y="431334"/>
            <a:ext cx="9601196" cy="1303867"/>
          </a:xfrm>
        </p:spPr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54795F4-EA92-9420-EE78-1DA0086D60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6299" y="2377474"/>
            <a:ext cx="11879402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Rapid and accurate damage assessment is essential for effective emergency response and resource allocation.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Traditional methods (manual surveys, 2D image interpretation) are slow, subjective, and often inconsistent.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Deep learning enables automated, pixel-level damage detection using semantic change detection and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segmentation.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Siamese U-Net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detects pixel-level structural changes, while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YOLOv8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provides precise building footprints.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The proposed framework integrates both models to classify structures 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Minor, Major, or Destroyed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Generates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GIS-compatible reports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reducing assessment time from weeks to minutes and improving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response planning.</a:t>
            </a:r>
          </a:p>
        </p:txBody>
      </p:sp>
    </p:spTree>
    <p:extLst>
      <p:ext uri="{BB962C8B-B14F-4D97-AF65-F5344CB8AC3E}">
        <p14:creationId xmlns:p14="http://schemas.microsoft.com/office/powerpoint/2010/main" val="24117176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A28-7B26-7356-A406-75380D65A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2293" y="303989"/>
            <a:ext cx="7729728" cy="1188720"/>
          </a:xfrm>
        </p:spPr>
        <p:txBody>
          <a:bodyPr/>
          <a:lstStyle/>
          <a:p>
            <a:r>
              <a:rPr lang="en-US" dirty="0"/>
              <a:t>IMPLEMENTATION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6E50F-BB7A-5CC6-CF1A-07C152600C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5321" y="2638044"/>
            <a:ext cx="4822991" cy="3101983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    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00EC8A7-13D4-3249-5E72-49263ABA4CD8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99771" y="1788378"/>
            <a:ext cx="11197976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 syste</a:t>
            </a:r>
            <a:r>
              <a:rPr lang="en-US" altLang="en-US" b="1" dirty="0">
                <a:latin typeface="Arial" panose="020B0604020202020204" pitchFamily="34" charset="0"/>
              </a:rPr>
              <a:t>m architecture :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framework is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unified multi-stage pipeline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automated disaster damage assessment.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Processes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satellite and drone imagery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deep learning models.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Workflow includes: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collection → preprocessing → semantic change</a:t>
            </a:r>
            <a:r>
              <a:rPr lang="en-US" altLang="en-US" b="1" dirty="0"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detection → object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segmentation → GIS-compatible classification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Each module works collaboratively to ensure smooth end-to-end 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Supports multiple disaster types: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earthquakes, floods, cyclones, building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b="1" dirty="0">
                <a:latin typeface="Arial" panose="020B0604020202020204" pitchFamily="34" charset="0"/>
              </a:rPr>
              <a:t> 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collapses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etc.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Ensure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rapid, scalable, and accurate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damage assessment.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Designed for real-world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emergency response and decision-making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54052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tornado">
            <a:extLst>
              <a:ext uri="{FF2B5EF4-FFF2-40B4-BE49-F238E27FC236}">
                <a16:creationId xmlns:a16="http://schemas.microsoft.com/office/drawing/2014/main" id="{296355E4-5697-29EE-3459-BCB42192D3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9409" y="818785"/>
            <a:ext cx="8786191" cy="5220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709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D090520-13CB-1BF5-2980-81F053DB6B4A}"/>
              </a:ext>
            </a:extLst>
          </p:cNvPr>
          <p:cNvSpPr txBox="1"/>
          <p:nvPr/>
        </p:nvSpPr>
        <p:spPr>
          <a:xfrm>
            <a:off x="506895" y="612844"/>
            <a:ext cx="673873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1. Data Sources and Acquisition</a:t>
            </a:r>
          </a:p>
          <a:p>
            <a:endParaRPr lang="en-IN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 Satellite data: Copernicus EMS, Sentinel-2, Planet Labs </a:t>
            </a:r>
          </a:p>
          <a:p>
            <a:r>
              <a:rPr lang="en-IN" dirty="0"/>
              <a:t>   (10 m–submeter).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  Automated pre/post-disaster image retrieval.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 Drone data: DJI Phantom 4 RTK with high-overlap flights.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 Benchmark datasets: </a:t>
            </a:r>
            <a:r>
              <a:rPr lang="en-IN" dirty="0" err="1"/>
              <a:t>xBD</a:t>
            </a:r>
            <a:r>
              <a:rPr lang="en-IN" dirty="0"/>
              <a:t>, xView2, Copernicus EMS.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2.  </a:t>
            </a:r>
            <a:r>
              <a:rPr lang="en-US" b="1" dirty="0"/>
              <a:t>Preprocessing Workflow </a:t>
            </a:r>
          </a:p>
          <a:p>
            <a:pPr>
              <a:buNone/>
            </a:pPr>
            <a:r>
              <a:rPr lang="en-US" dirty="0"/>
              <a:t>Before feeding the images into the models, the system performs standard preprocessing operations: </a:t>
            </a:r>
          </a:p>
          <a:p>
            <a:pPr>
              <a:buNone/>
            </a:pPr>
            <a:r>
              <a:rPr lang="en-US" dirty="0"/>
              <a:t>• Resizing image pairs to a fixed resolution (512×512). </a:t>
            </a:r>
          </a:p>
          <a:p>
            <a:pPr>
              <a:buNone/>
            </a:pPr>
            <a:r>
              <a:rPr lang="en-US" dirty="0"/>
              <a:t>• Normalizing pixel values using mean and standard deviation vectors. </a:t>
            </a:r>
          </a:p>
          <a:p>
            <a:pPr>
              <a:buNone/>
            </a:pPr>
            <a:r>
              <a:rPr lang="en-US" dirty="0"/>
              <a:t>• Aligning pre- and post-disaster images to ensure spatial consistency. This preprocessing ensures that the Siamese U-Net receives properly formatted tensors for change detection. </a:t>
            </a:r>
            <a:r>
              <a:rPr lang="en-I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6" name="Picture 5" descr="A diagram of a circular object with colorful arrows">
            <a:extLst>
              <a:ext uri="{FF2B5EF4-FFF2-40B4-BE49-F238E27FC236}">
                <a16:creationId xmlns:a16="http://schemas.microsoft.com/office/drawing/2014/main" id="{F75CD73C-03B8-6E84-841E-76B04BA472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6907" y="433572"/>
            <a:ext cx="5255093" cy="4317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793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1A1E01-8391-6491-FB61-60AC1F40CD73}"/>
              </a:ext>
            </a:extLst>
          </p:cNvPr>
          <p:cNvSpPr txBox="1"/>
          <p:nvPr/>
        </p:nvSpPr>
        <p:spPr>
          <a:xfrm>
            <a:off x="629479" y="812924"/>
            <a:ext cx="546652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4. Deep Learning Model Training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endParaRPr lang="en-IN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   Modified U-Net with ResNet-50 encoder; input is</a:t>
            </a:r>
          </a:p>
          <a:p>
            <a:r>
              <a:rPr lang="en-IN" dirty="0"/>
              <a:t>     stacked pre/post RGB (512×512×6).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   Losses: weighted cross-entropy + Dice; optimizer:</a:t>
            </a:r>
          </a:p>
          <a:p>
            <a:r>
              <a:rPr lang="en-IN" dirty="0"/>
              <a:t>      Adam with LR scheduler.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   Augmentations: rotation, scaling, brightness shifts,</a:t>
            </a:r>
          </a:p>
          <a:p>
            <a:r>
              <a:rPr lang="en-IN" dirty="0"/>
              <a:t>     cutout masks.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   Trained for up to 100 epochs on NVIDIA V100 with</a:t>
            </a:r>
          </a:p>
          <a:p>
            <a:r>
              <a:rPr lang="en-IN" dirty="0"/>
              <a:t>     early stopping.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   Uses transfer learning from ImageNet + xView2, </a:t>
            </a:r>
          </a:p>
          <a:p>
            <a:r>
              <a:rPr lang="en-IN" dirty="0"/>
              <a:t>     multi-scale inputs, cyclical learning rates.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endParaRPr lang="en-IN" dirty="0"/>
          </a:p>
        </p:txBody>
      </p:sp>
      <p:pic>
        <p:nvPicPr>
          <p:cNvPr id="6" name="Picture 5" descr="A diagram of a training cycle">
            <a:extLst>
              <a:ext uri="{FF2B5EF4-FFF2-40B4-BE49-F238E27FC236}">
                <a16:creationId xmlns:a16="http://schemas.microsoft.com/office/drawing/2014/main" id="{712AE47A-F8AC-AA67-0471-0F3241D02B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243" y="452230"/>
            <a:ext cx="6264966" cy="4986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893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77B5305-C1BB-FAAF-9CA1-02B94DB3BD13}"/>
              </a:ext>
            </a:extLst>
          </p:cNvPr>
          <p:cNvSpPr txBox="1"/>
          <p:nvPr/>
        </p:nvSpPr>
        <p:spPr>
          <a:xfrm>
            <a:off x="653497" y="566678"/>
            <a:ext cx="895764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Damage Severity Classification :  </a:t>
            </a:r>
          </a:p>
          <a:p>
            <a:endParaRPr lang="en-US" dirty="0"/>
          </a:p>
          <a:p>
            <a:r>
              <a:rPr lang="en-US" dirty="0"/>
              <a:t>The system calculates damage severity using the Intersection over Area (</a:t>
            </a:r>
            <a:r>
              <a:rPr lang="en-US" dirty="0" err="1"/>
              <a:t>IoA</a:t>
            </a:r>
            <a:r>
              <a:rPr lang="en-US" dirty="0"/>
              <a:t>) method: </a:t>
            </a:r>
          </a:p>
          <a:p>
            <a:r>
              <a:rPr lang="en-US" dirty="0"/>
              <a:t>• Changed pixels (from Siamese U-Net) are intersected with building masks (from YOLOv8). </a:t>
            </a:r>
          </a:p>
          <a:p>
            <a:r>
              <a:rPr lang="en-US" dirty="0"/>
              <a:t>• The ratio of changed pixels to total building pixels gives the damage percentage. </a:t>
            </a:r>
          </a:p>
          <a:p>
            <a:r>
              <a:rPr lang="en-US" dirty="0"/>
              <a:t>• Classification thresholds: o Destroyed: &gt; 70% o Major: 25–70% o Minor: 5–25% o Safe: ≤ 5%</a:t>
            </a:r>
          </a:p>
          <a:p>
            <a:endParaRPr lang="en-US" dirty="0"/>
          </a:p>
          <a:p>
            <a:r>
              <a:rPr lang="en-US" dirty="0"/>
              <a:t> This classification is displayed visually with color-coded bounding boxes </a:t>
            </a:r>
          </a:p>
          <a:p>
            <a:r>
              <a:rPr lang="en-US" dirty="0"/>
              <a:t>(Green = Safe, Orange = Major, Red = Destroyed) and summarized in a GIS-compatible </a:t>
            </a:r>
          </a:p>
          <a:p>
            <a:r>
              <a:rPr lang="en-US" dirty="0"/>
              <a:t>report panel. </a:t>
            </a:r>
          </a:p>
          <a:p>
            <a:endParaRPr lang="en-US" dirty="0"/>
          </a:p>
          <a:p>
            <a:endParaRPr lang="en-US" dirty="0"/>
          </a:p>
          <a:p>
            <a:r>
              <a:rPr lang="en-IN" b="1" dirty="0"/>
              <a:t>Tools and Technologies Used :</a:t>
            </a:r>
          </a:p>
          <a:p>
            <a:r>
              <a:rPr lang="en-IN" b="1" dirty="0"/>
              <a:t> </a:t>
            </a:r>
          </a:p>
          <a:p>
            <a:r>
              <a:rPr lang="en-IN" dirty="0"/>
              <a:t>• Python 3.8 </a:t>
            </a:r>
          </a:p>
          <a:p>
            <a:r>
              <a:rPr lang="en-IN" dirty="0"/>
              <a:t>• </a:t>
            </a:r>
            <a:r>
              <a:rPr lang="en-IN" dirty="0" err="1"/>
              <a:t>PyTorch</a:t>
            </a:r>
            <a:r>
              <a:rPr lang="en-IN" dirty="0"/>
              <a:t> for Siamese U-Net training and inference </a:t>
            </a:r>
          </a:p>
          <a:p>
            <a:r>
              <a:rPr lang="en-IN" dirty="0"/>
              <a:t>• </a:t>
            </a:r>
            <a:r>
              <a:rPr lang="en-IN" dirty="0" err="1"/>
              <a:t>Ultralytics</a:t>
            </a:r>
            <a:r>
              <a:rPr lang="en-IN" dirty="0"/>
              <a:t> YOLOv8 for building segmentation </a:t>
            </a:r>
          </a:p>
          <a:p>
            <a:r>
              <a:rPr lang="en-IN" dirty="0"/>
              <a:t>• OpenCV, NumPy for image preprocessing and visualization </a:t>
            </a:r>
          </a:p>
          <a:p>
            <a:r>
              <a:rPr lang="en-IN" dirty="0"/>
              <a:t>• Flask for web deployment and interactive analysis </a:t>
            </a:r>
          </a:p>
          <a:p>
            <a:r>
              <a:rPr lang="en-IN" dirty="0"/>
              <a:t>• GDAL, </a:t>
            </a:r>
            <a:r>
              <a:rPr lang="en-IN" dirty="0" err="1"/>
              <a:t>Rasterio</a:t>
            </a:r>
            <a:r>
              <a:rPr lang="en-IN" dirty="0"/>
              <a:t>, </a:t>
            </a:r>
            <a:r>
              <a:rPr lang="en-IN" dirty="0" err="1"/>
              <a:t>GeoPandas</a:t>
            </a:r>
            <a:r>
              <a:rPr lang="en-IN" dirty="0"/>
              <a:t> for GIS compatibility and spatial data handling </a:t>
            </a:r>
          </a:p>
        </p:txBody>
      </p:sp>
    </p:spTree>
    <p:extLst>
      <p:ext uri="{BB962C8B-B14F-4D97-AF65-F5344CB8AC3E}">
        <p14:creationId xmlns:p14="http://schemas.microsoft.com/office/powerpoint/2010/main" val="38175243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79993-186A-A004-E953-8F062651F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1988" y="398162"/>
            <a:ext cx="7729728" cy="1188720"/>
          </a:xfrm>
        </p:spPr>
        <p:txBody>
          <a:bodyPr/>
          <a:lstStyle/>
          <a:p>
            <a:r>
              <a:rPr lang="en-IN" dirty="0"/>
              <a:t>RESULT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62B6C98-35CE-52E2-6196-3CC156819D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617" y="2066564"/>
            <a:ext cx="11476383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system performs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post-disaster semantic change detection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building-level damage classification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Siamese U-Net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identifies change regions between pre- and post-disaster images.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YOLOv8 Segmentation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extracts building footprints for object-level 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Damage is classified into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four severity levels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Destroyed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Major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Minor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Safe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Final output includes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GIS-compatible visual assessment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Red change-detection overlays showing affected areas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Color-coded bounding boxes around buildings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Damage labels for each structure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Summary panel showing total buildings + count per damage category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categorical output enables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 interpretation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aiding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time-critical disaster response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teams.</a:t>
            </a:r>
          </a:p>
        </p:txBody>
      </p:sp>
    </p:spTree>
    <p:extLst>
      <p:ext uri="{BB962C8B-B14F-4D97-AF65-F5344CB8AC3E}">
        <p14:creationId xmlns:p14="http://schemas.microsoft.com/office/powerpoint/2010/main" val="22960817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">
            <a:extLst>
              <a:ext uri="{FF2B5EF4-FFF2-40B4-BE49-F238E27FC236}">
                <a16:creationId xmlns:a16="http://schemas.microsoft.com/office/drawing/2014/main" id="{653CCC38-5987-A785-9644-6D96076A51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305" y="285986"/>
            <a:ext cx="5128591" cy="2993927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01A4C19-2B39-917C-FD97-F04C944CD8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0817" y="285986"/>
            <a:ext cx="5198270" cy="3034513"/>
          </a:xfrm>
          <a:prstGeom prst="rect">
            <a:avLst/>
          </a:prstGeom>
        </p:spPr>
      </p:pic>
      <p:pic>
        <p:nvPicPr>
          <p:cNvPr id="7" name="Picture 6" descr="A screenshot of a computer">
            <a:extLst>
              <a:ext uri="{FF2B5EF4-FFF2-40B4-BE49-F238E27FC236}">
                <a16:creationId xmlns:a16="http://schemas.microsoft.com/office/drawing/2014/main" id="{F5C8E185-EFD0-1752-A48C-34193A2271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3189" y="3578088"/>
            <a:ext cx="5354707" cy="3000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0816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6AADA-EBDC-A6D3-EEEF-22972F85B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2414" y="527371"/>
            <a:ext cx="7729728" cy="1188720"/>
          </a:xfrm>
        </p:spPr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518E337-4C86-A81E-8C1C-2259FA92C6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566" y="2360311"/>
            <a:ext cx="10762112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The original plan included detailed damage percentage visuals and 3D debris estimation.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The final system focuses solely on categorical damage levels (Destroyed, Major, Minor, Safe).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This simplification improves clarity and speeds up decision-making for emergency responders.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The system still calculates exact damage percentages internally using the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IoA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method.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These percentages appear in the summary statistics to maintain quantitative accuracy.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Excluding volumetric/3D analysis makes the workflow faster, more stable, and practical.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The final output remains fully GIS-compatible, linking each building’s location, category, and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latin typeface="Arial" panose="020B0604020202020204" pitchFamily="34" charset="0"/>
              </a:rPr>
              <a:t>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percentage.</a:t>
            </a:r>
          </a:p>
        </p:txBody>
      </p:sp>
    </p:spTree>
    <p:extLst>
      <p:ext uri="{BB962C8B-B14F-4D97-AF65-F5344CB8AC3E}">
        <p14:creationId xmlns:p14="http://schemas.microsoft.com/office/powerpoint/2010/main" val="28713127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AF6EA-4FE2-F060-1462-AD2D01293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8670" y="457250"/>
            <a:ext cx="7729728" cy="1188720"/>
          </a:xfrm>
        </p:spPr>
        <p:txBody>
          <a:bodyPr/>
          <a:lstStyle/>
          <a:p>
            <a:r>
              <a:rPr lang="en-IN" dirty="0"/>
              <a:t>FUTURE SCOPE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141D951-B6E5-D2EE-E4FD-658A6FA922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4218" y="2244108"/>
            <a:ext cx="1161553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Integrate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damage-percentage values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directly into bounding-box labels.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Adopt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transformer-based models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SegFormer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Swin-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for improved segmentation.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Use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geospatial foundation models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like Prithvi and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SatMAE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better cross-region generalization.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Incorporate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SAR datasets (Sentinel-1)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reliable assessment during cloud, smoke, or nighttime.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Explore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LiDAR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 lightweight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3D reconstruction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volumetric debris estimation.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Enable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edge deployment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 devices like NVIDIA Jetson for real-time field 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Build automated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GIS reporting pipelines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link outputs with hazard–vulnerability models for predictive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latin typeface="Arial" panose="020B0604020202020204" pitchFamily="34" charset="0"/>
              </a:rPr>
              <a:t>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insights.</a:t>
            </a:r>
          </a:p>
        </p:txBody>
      </p:sp>
    </p:spTree>
    <p:extLst>
      <p:ext uri="{BB962C8B-B14F-4D97-AF65-F5344CB8AC3E}">
        <p14:creationId xmlns:p14="http://schemas.microsoft.com/office/powerpoint/2010/main" val="488746441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336</TotalTime>
  <Words>1033</Words>
  <Application>Microsoft Office PowerPoint</Application>
  <PresentationFormat>Widescreen</PresentationFormat>
  <Paragraphs>148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Gill Sans MT</vt:lpstr>
      <vt:lpstr>Times New Roman</vt:lpstr>
      <vt:lpstr>Parcel</vt:lpstr>
      <vt:lpstr>Disaster Damage Assessment Using Semantic Change Detection and Deep Learning: An Automated Framework for Damage Classification  </vt:lpstr>
      <vt:lpstr>Abstract</vt:lpstr>
      <vt:lpstr>Introduction</vt:lpstr>
      <vt:lpstr>IMPLEMENTATION</vt:lpstr>
      <vt:lpstr>PowerPoint Presentation</vt:lpstr>
      <vt:lpstr>PowerPoint Presentation</vt:lpstr>
      <vt:lpstr>PowerPoint Presentation</vt:lpstr>
      <vt:lpstr>PowerPoint Presentation</vt:lpstr>
      <vt:lpstr>RESULT</vt:lpstr>
      <vt:lpstr>PowerPoint Presentation</vt:lpstr>
      <vt:lpstr>CONCLUSION</vt:lpstr>
      <vt:lpstr>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vijayamatta85@gmail.com</dc:creator>
  <cp:lastModifiedBy>Swaroopa Rani</cp:lastModifiedBy>
  <cp:revision>4</cp:revision>
  <dcterms:created xsi:type="dcterms:W3CDTF">2025-11-27T15:35:48Z</dcterms:created>
  <dcterms:modified xsi:type="dcterms:W3CDTF">2026-07-03T14:51:56Z</dcterms:modified>
</cp:coreProperties>
</file>